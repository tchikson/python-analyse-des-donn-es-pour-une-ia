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IA - AirBnB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Objectif : préparer les données AirBnB pour les exploiter avec une IA</a:t>
            </a:r>
          </a:p>
          <a:p>
            <a:r>
              <a:t>Prédiction du prix des logements</a:t>
            </a:r>
          </a:p>
          <a:p/>
          <a:p>
            <a:r>
              <a:t>Notebook : air_bnb_TCHIKAYA_Kevin.ipynb</a:t>
            </a:r>
          </a:p>
          <a:p>
            <a:r>
              <a:t>Auteur : Kevin TCHIKAYA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du projet &amp;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Contexte : prédire le prix d'un nouveau logement sur AirBnB.</a:t>
            </a:r>
          </a:p>
          <a:p>
            <a:pPr/>
            <a:r>
              <a:t>Question centrale : quel est le bon prix à proposer ?</a:t>
            </a:r>
          </a:p>
          <a:p>
            <a:pPr/>
            <a:r>
              <a:t>Enjeux pour le propriétaire :</a:t>
            </a:r>
          </a:p>
          <a:p>
            <a:pPr lvl="1"/>
            <a:r>
              <a:t>Prix trop élevé → peu de réservations</a:t>
            </a:r>
          </a:p>
          <a:p>
            <a:pPr lvl="1"/>
            <a:r>
              <a:t>Prix trop bas → perte de revenus</a:t>
            </a:r>
          </a:p>
          <a:p>
            <a:pPr/>
            <a:r>
              <a:t>Rôle de l'IA : proposer un prix cohérent basé sur l'historique des annonces.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Chargement &amp; aperçu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Données AirBnB chargées depuis listings.csv (InsideAirBnB).</a:t>
            </a:r>
          </a:p>
          <a:p>
            <a:pPr/>
            <a:r>
              <a:t>Création d'un DataFrame pandas (df) et d'une version filtrée (df_selected).</a:t>
            </a:r>
          </a:p>
          <a:p>
            <a:pPr/>
            <a:r>
              <a:t>Vérification rapide : dimensions, premières lignes, types des colonnes.</a:t>
            </a:r>
          </a:p>
          <a:p>
            <a:pPr/>
            <a:r>
              <a:t>Pourquoi cette étape ?</a:t>
            </a:r>
          </a:p>
          <a:p>
            <a:pPr lvl="1"/>
            <a:r>
              <a:t>Comprendre la structure brute des données avant de transformer quoi que ce soit.</a:t>
            </a:r>
          </a:p>
          <a:p>
            <a:pPr lvl="1"/>
            <a:r>
              <a:t>Repérer les colonnes vraiment utiles pour la suite.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Prétraitement – Sélection des colonnes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Sélection d'un sous-ensemble de colonnes :</a:t>
            </a:r>
          </a:p>
          <a:p>
            <a:pPr lvl="1"/>
            <a:r>
              <a:t>price, room_type, neighbourhood_cleansed,</a:t>
            </a:r>
          </a:p>
          <a:p>
            <a:pPr lvl="1"/>
            <a:r>
              <a:t>minimum_nights, number_of_reviews,</a:t>
            </a:r>
          </a:p>
          <a:p>
            <a:pPr lvl="1"/>
            <a:r>
              <a:t>review_scores_rating, beds, bedrooms, accommodates</a:t>
            </a:r>
          </a:p>
          <a:p>
            <a:pPr/>
            <a:r>
              <a:t>Objectif : se concentrer sur les variables qui influencent le prix.</a:t>
            </a:r>
          </a:p>
          <a:p>
            <a:pPr/>
            <a:r>
              <a:t>Pourquoi cette étape ?</a:t>
            </a:r>
          </a:p>
          <a:p>
            <a:pPr lvl="1"/>
            <a:r>
              <a:t>Réduire le bruit et la complexité du dataset.</a:t>
            </a:r>
          </a:p>
          <a:p>
            <a:pPr lvl="1"/>
            <a:r>
              <a:t>Faciliter l'interprétation des modèles.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Nettoyage de la variable prix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 colonne price est au format texte avec symbole '$' et virgules.</a:t>
            </a:r>
          </a:p>
          <a:p>
            <a:pPr/>
            <a:r>
              <a:t>Nettoyage effectué dans le notebook :</a:t>
            </a:r>
          </a:p>
          <a:p>
            <a:pPr lvl="1"/>
            <a:r>
              <a:t>Suppression des caractères non numériques ( $, , ).</a:t>
            </a:r>
          </a:p>
          <a:p>
            <a:pPr lvl="1"/>
            <a:r>
              <a:t>Conversion en float pour pouvoir faire des calculs.</a:t>
            </a:r>
          </a:p>
          <a:p>
            <a:pPr/>
            <a:r>
              <a:t>Pourquoi cette étape ?</a:t>
            </a:r>
          </a:p>
          <a:p>
            <a:pPr lvl="1"/>
            <a:r>
              <a:t>Permet d'utiliser le prix comme vraie variable numérique.</a:t>
            </a:r>
          </a:p>
          <a:p>
            <a:pPr lvl="1"/>
            <a:r>
              <a:t>Indispensable pour la régression et les statistiques.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Conversion numérique &amp; valeurs manquantes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Colonnes converties en numérique (to_numeric avec errors='coerce') :</a:t>
            </a:r>
          </a:p>
          <a:p>
            <a:pPr lvl="1"/>
            <a:r>
              <a:t>review_scores_rating, minimum_nights, number_of_reviews,</a:t>
            </a:r>
          </a:p>
          <a:p>
            <a:pPr lvl="1"/>
            <a:r>
              <a:t>beds, bedrooms, accommodates</a:t>
            </a:r>
          </a:p>
          <a:p>
            <a:pPr/>
            <a:r>
              <a:t>Gestion des valeurs manquantes :</a:t>
            </a:r>
          </a:p>
          <a:p>
            <a:pPr lvl="1"/>
            <a:r>
              <a:t>review_scores_rating → remplacée par la moyenne.</a:t>
            </a:r>
          </a:p>
          <a:p>
            <a:pPr lvl="1"/>
            <a:r>
              <a:t>minimum_nights, number_of_reviews, beds, bedrooms, accommodates → médiane.</a:t>
            </a:r>
          </a:p>
          <a:p>
            <a:pPr/>
            <a:r>
              <a:t>Pourquoi cette étape ?</a:t>
            </a:r>
          </a:p>
          <a:p>
            <a:pPr lvl="1"/>
            <a:r>
              <a:t>Les modèles de ML n'acceptent pas les NaN.</a:t>
            </a:r>
          </a:p>
          <a:p>
            <a:pPr lvl="1"/>
            <a:r>
              <a:t>Limiter la perte d'information en évitant de supprimer trop de lignes.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Nettoyage – Doublons &amp; lignes manquantes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Suppression des doublons sur df_selected.</a:t>
            </a:r>
          </a:p>
          <a:p>
            <a:pPr/>
            <a:r>
              <a:t>Suppression des lignes sans valeur de price ou room_type.</a:t>
            </a:r>
          </a:p>
          <a:p>
            <a:pPr/>
            <a:r>
              <a:t>Objectif : garder uniquement des observations exploitables et uniques.</a:t>
            </a:r>
          </a:p>
          <a:p>
            <a:pPr/>
            <a:r>
              <a:t>Pourquoi cette étape ?</a:t>
            </a:r>
          </a:p>
          <a:p>
            <a:pPr lvl="1"/>
            <a:r>
              <a:t>Éviter que certaines annonces comptent plusieurs fois.</a:t>
            </a:r>
          </a:p>
          <a:p>
            <a:pPr lvl="1"/>
            <a:r>
              <a:t>Améliorer la qualité de l'apprentissage et des statistiques.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Encodage des variables catégorielles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Variables catégorielles :</a:t>
            </a:r>
          </a:p>
          <a:p>
            <a:pPr lvl="1"/>
            <a:r>
              <a:t>room_type (Entire home/apt, Private room, Shared room...)</a:t>
            </a:r>
          </a:p>
          <a:p>
            <a:pPr lvl="1"/>
            <a:r>
              <a:t>neighbourhood_cleansed (quartiers)</a:t>
            </a:r>
          </a:p>
          <a:p>
            <a:pPr/>
            <a:r>
              <a:t>Encodage réalisé dans le notebook (LabelEncoder) :</a:t>
            </a:r>
          </a:p>
          <a:p>
            <a:pPr lvl="1"/>
            <a:r>
              <a:t>room_type_encoded</a:t>
            </a:r>
          </a:p>
          <a:p>
            <a:pPr lvl="1"/>
            <a:r>
              <a:t>neighbourhood_encoded</a:t>
            </a:r>
          </a:p>
          <a:p>
            <a:pPr/>
            <a:r>
              <a:t>Pourquoi cette étape ?</a:t>
            </a:r>
          </a:p>
          <a:p>
            <a:pPr lvl="1"/>
            <a:r>
              <a:t>Transformer les catégories en nombres pour les modèles.</a:t>
            </a:r>
          </a:p>
          <a:p>
            <a:pPr lvl="1"/>
            <a:r>
              <a:t>Indispensable pour la régression linéaire et RandomForest.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Création de nouvelles features à partir des colonnes existantes :</a:t>
            </a:r>
          </a:p>
          <a:p>
            <a:pPr lvl="1"/>
            <a:r>
              <a:t>bed_bedroom_ratio = beds / bedrooms (si possible).</a:t>
            </a:r>
          </a:p>
          <a:p>
            <a:pPr lvl="1"/>
            <a:r>
              <a:t>size_category (petit / moyen / grand logement) en fonction de accommodates.</a:t>
            </a:r>
          </a:p>
          <a:p>
            <a:pPr lvl="1"/>
            <a:r>
              <a:t>size_category_encoded pour utiliser la catégorie dans les modèles.</a:t>
            </a:r>
          </a:p>
          <a:p>
            <a:pPr/>
            <a:r>
              <a:t>Parfois aussi une variable de type popularity_score (ex : number_of_reviews).</a:t>
            </a:r>
          </a:p>
          <a:p>
            <a:pPr/>
            <a:r>
              <a:t>Pourquoi cette étape ?</a:t>
            </a:r>
          </a:p>
          <a:p>
            <a:pPr lvl="1"/>
            <a:r>
              <a:t>Enrichir l'information donnée au modèle.</a:t>
            </a:r>
          </a:p>
          <a:p>
            <a:pPr lvl="1"/>
            <a:r>
              <a:t>Permet de mieux capturer la structure réelle des logements.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descriptive &amp; corrélations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Analyse de la distribution du prix et des variables numériques.</a:t>
            </a:r>
          </a:p>
          <a:p>
            <a:pPr/>
            <a:r>
              <a:t>Matrice de corrélation entre prix et les autres variables.</a:t>
            </a:r>
          </a:p>
          <a:p>
            <a:pPr/>
            <a:r>
              <a:t>Visualisations typiques dans le notebook :</a:t>
            </a:r>
          </a:p>
          <a:p>
            <a:pPr lvl="1"/>
            <a:r>
              <a:t>Heatmap de corrélation.</a:t>
            </a:r>
          </a:p>
          <a:p>
            <a:pPr lvl="1"/>
            <a:r>
              <a:t>Boxplots du prix par type de chambre.</a:t>
            </a:r>
          </a:p>
          <a:p>
            <a:pPr/>
            <a:r>
              <a:t>Pourquoi cette étape ?</a:t>
            </a:r>
          </a:p>
          <a:p>
            <a:pPr lvl="1"/>
            <a:r>
              <a:t>Identifier quelles variables sont les plus liées au prix.</a:t>
            </a:r>
          </a:p>
          <a:p>
            <a:pPr lvl="1"/>
            <a:r>
              <a:t>Détecter des relations non linéaires ou des anomalies.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des valeurs aberrantes (IQR)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Utilisation de la méthode IQR (InterQuartile Range) sur :</a:t>
            </a:r>
          </a:p>
          <a:p>
            <a:pPr lvl="1"/>
            <a:r>
              <a:t>price, accommodates, number_of_reviews</a:t>
            </a:r>
          </a:p>
          <a:p>
            <a:pPr/>
            <a:r>
              <a:t>Suppression des observations avec valeurs extrêmes.</a:t>
            </a:r>
          </a:p>
          <a:p>
            <a:pPr/>
            <a:r>
              <a:t>Pourquoi cette étape ?</a:t>
            </a:r>
          </a:p>
          <a:p>
            <a:pPr lvl="1"/>
            <a:r>
              <a:t>Les outliers peuvent fausser la régression (coefficients, R²).</a:t>
            </a:r>
          </a:p>
          <a:p>
            <a:pPr lvl="1"/>
            <a:r>
              <a:t>Améliore la stabilité et la robustesse des modèles.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Construction de X, y &amp; séparation train/test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Définition de la variable cible y = price.</a:t>
            </a:r>
          </a:p>
          <a:p>
            <a:pPr/>
            <a:r>
              <a:t>Définition de X avec les features :</a:t>
            </a:r>
          </a:p>
          <a:p>
            <a:pPr lvl="1"/>
            <a:r>
              <a:t>accommodates, bedrooms, beds, review_scores_rating,</a:t>
            </a:r>
          </a:p>
          <a:p>
            <a:pPr lvl="1"/>
            <a:r>
              <a:t>number_of_reviews, minimum_nights,</a:t>
            </a:r>
          </a:p>
          <a:p>
            <a:pPr lvl="1"/>
            <a:r>
              <a:t>room_type_encoded, neighbourhood_encoded,</a:t>
            </a:r>
          </a:p>
          <a:p>
            <a:pPr lvl="1"/>
            <a:r>
              <a:t>bed_bedroom_ratio, size_category_encoded</a:t>
            </a:r>
          </a:p>
          <a:p>
            <a:pPr/>
            <a:r>
              <a:t>Séparation train/test (ex : 60% / 40%).</a:t>
            </a:r>
          </a:p>
          <a:p>
            <a:pPr/>
            <a:r>
              <a:t>Pourquoi cette étape ?</a:t>
            </a:r>
          </a:p>
          <a:p>
            <a:pPr lvl="1"/>
            <a:r>
              <a:t>Évaluer les modèles sur des données non vues.</a:t>
            </a:r>
          </a:p>
          <a:p>
            <a:pPr lvl="1"/>
            <a:r>
              <a:t>Mesurer le généralisation, pas seulement l'apprentissage.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Modélisation – Régression linéaire simple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Choix d'une seule variable explicative fortement corrélée au prix.</a:t>
            </a:r>
          </a:p>
          <a:p>
            <a:pPr lvl="1"/>
            <a:r>
              <a:t>Exemple : accommodates (nombre de personnes acceptées).</a:t>
            </a:r>
          </a:p>
          <a:p>
            <a:pPr/>
            <a:r>
              <a:t>Entraînement d'une régression linéaire simple : price ~ accommodates.</a:t>
            </a:r>
          </a:p>
          <a:p>
            <a:pPr/>
            <a:r>
              <a:t>Évaluation dans le notebook :</a:t>
            </a:r>
          </a:p>
          <a:p>
            <a:pPr lvl="1"/>
            <a:r>
              <a:t>R², MAE, RMSE sur le jeu de test.</a:t>
            </a:r>
          </a:p>
          <a:p>
            <a:pPr/>
            <a:r>
              <a:t>Pourquoi cette étape ?</a:t>
            </a:r>
          </a:p>
          <a:p>
            <a:pPr lvl="1"/>
            <a:r>
              <a:t>Servir de baseline très simple.</a:t>
            </a:r>
          </a:p>
          <a:p>
            <a:pPr lvl="1"/>
            <a:r>
              <a:t>Comprendre l'effet isolé d'une variable sur le prix.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Modélisation – Régression linéaire multiple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Utilisation de plusieurs variables explicatives :</a:t>
            </a:r>
          </a:p>
          <a:p>
            <a:pPr lvl="1"/>
            <a:r>
              <a:t>Caractéristiques du logement + encodage des catégories.</a:t>
            </a:r>
          </a:p>
          <a:p>
            <a:pPr/>
            <a:r>
              <a:t>Entraînement de la régression linéaire multiple sur X_train / y_train.</a:t>
            </a:r>
          </a:p>
          <a:p>
            <a:pPr/>
            <a:r>
              <a:t>Évaluation :</a:t>
            </a:r>
          </a:p>
          <a:p>
            <a:pPr lvl="1"/>
            <a:r>
              <a:t>R², MAE, RMSE sur train et test.</a:t>
            </a:r>
          </a:p>
          <a:p>
            <a:pPr lvl="1"/>
            <a:r>
              <a:t>Analyse des résidus (erreurs) pour vérifier les hypothèses.</a:t>
            </a:r>
          </a:p>
          <a:p>
            <a:pPr/>
            <a:r>
              <a:t>Pourquoi cette étape ?</a:t>
            </a:r>
          </a:p>
          <a:p>
            <a:pPr lvl="1"/>
            <a:r>
              <a:t>Combiner plusieurs facteurs pour de meilleures prédictions.</a:t>
            </a:r>
          </a:p>
          <a:p>
            <a:pPr lvl="1"/>
            <a:r>
              <a:t>Comparer les performances à la régression simple.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Modélisation –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Mise en place d'un modèle RandomForestRegressor.</a:t>
            </a:r>
          </a:p>
          <a:p>
            <a:pPr/>
            <a:r>
              <a:t>Objectif : capturer des relations non linéaires et des interactions.</a:t>
            </a:r>
          </a:p>
          <a:p>
            <a:pPr/>
            <a:r>
              <a:t>Comparaison avec la régression linéaire multiple :</a:t>
            </a:r>
          </a:p>
          <a:p>
            <a:pPr lvl="1"/>
            <a:r>
              <a:t>Regarder R², MAE, RMSE.</a:t>
            </a:r>
          </a:p>
          <a:p>
            <a:pPr lvl="1"/>
            <a:r>
              <a:t>Analyse des importances de variables.</a:t>
            </a:r>
          </a:p>
          <a:p>
            <a:pPr/>
            <a:r>
              <a:t>Pourquoi cette étape ?</a:t>
            </a:r>
          </a:p>
          <a:p>
            <a:pPr lvl="1"/>
            <a:r>
              <a:t>Tester un modèle plus puissant sur les mêmes données.</a:t>
            </a:r>
          </a:p>
          <a:p>
            <a:pPr lvl="1"/>
            <a:r>
              <a:t>Voir quelles variables sont les plus importantes pour la prédiction.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du surapprentissage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Vérification du surapprentissage (overfitting) :</a:t>
            </a:r>
          </a:p>
          <a:p>
            <a:pPr lvl="1"/>
            <a:r>
              <a:t>Comparaison des scores entre train et test.</a:t>
            </a:r>
          </a:p>
          <a:p>
            <a:pPr lvl="1"/>
            <a:r>
              <a:t>Utilisation de la validation croisée (CV) pour la stabilité.</a:t>
            </a:r>
          </a:p>
          <a:p>
            <a:pPr/>
            <a:r>
              <a:t>Analyse de la qualité du modèle :</a:t>
            </a:r>
          </a:p>
          <a:p>
            <a:pPr lvl="1"/>
            <a:r>
              <a:t>Équilibre entre performance et généralisation.</a:t>
            </a:r>
          </a:p>
          <a:p>
            <a:pPr/>
            <a:r>
              <a:t>Conclusion :</a:t>
            </a:r>
          </a:p>
          <a:p>
            <a:pPr lvl="1"/>
            <a:r>
              <a:t>La régression multiple fournit une base interprétable.</a:t>
            </a:r>
          </a:p>
          <a:p>
            <a:pPr lvl="1"/>
            <a:r>
              <a:t>La Random Forest peut améliorer la performance au prix de la complexité.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